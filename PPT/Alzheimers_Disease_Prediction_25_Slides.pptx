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352C4-70A3-423E-8B6D-0A0F6EA79502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44F21-1D1E-453C-B08B-C781D8CD9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413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44F21-1D1E-453C-B08B-C781D8CD961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20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solidFill>
              <a:srgbClr val="F7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957D"/>
                </a:solidFill>
                <a:latin typeface="Aptos"/>
              </a:rP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41F2A"/>
                </a:solidFill>
                <a:latin typeface="Aptos"/>
              </a:rPr>
              <a:t>Alzheimer’s Disease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5737D"/>
                </a:solidFill>
                <a:latin typeface="Aptos"/>
              </a:rPr>
              <a:t>Machine Learning • Classification • Streamlit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957D"/>
                </a:solidFill>
                <a:latin typeface="Aptos"/>
              </a:rPr>
              <a:t>Project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93008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B35"/>
                </a:solidFill>
                <a:latin typeface="Aptos"/>
              </a:rPr>
              <a:t>Classify Alzheimer’s Disease diagnosis from demographic, lifestyle, medical, cognitive, functional and symptom-related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4983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AFBE"/>
                </a:solidFill>
                <a:latin typeface="Aptos"/>
              </a:rPr>
              <a:t>Final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93008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F2A"/>
                </a:solidFill>
                <a:latin typeface="Aptos"/>
              </a:rPr>
              <a:t>Tuned Random Forest</a:t>
            </a:r>
            <a:br/>
            <a:r>
              <a:rPr sz="1800" b="1">
                <a:solidFill>
                  <a:srgbClr val="141F2A"/>
                </a:solidFill>
                <a:latin typeface="Aptos"/>
              </a:rPr>
              <a:t>94.42% Accuracy • 91.89%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Mentor &amp;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544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957D"/>
                </a:solidFill>
                <a:latin typeface="Aptos"/>
              </a:rPr>
              <a:t>MENTOR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41F2A"/>
                </a:solidFill>
                <a:latin typeface="Aptos"/>
              </a:rPr>
              <a:t>[</a:t>
            </a:r>
            <a:r>
              <a:rPr lang="en-IN" sz="2000" b="1" dirty="0">
                <a:solidFill>
                  <a:srgbClr val="141F2A"/>
                </a:solidFill>
                <a:latin typeface="Aptos"/>
              </a:rPr>
              <a:t>Mentor Name</a:t>
            </a:r>
            <a:r>
              <a:rPr sz="2000" b="1" dirty="0">
                <a:solidFill>
                  <a:srgbClr val="141F2A"/>
                </a:solidFill>
                <a:latin typeface="Aptos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8036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737D"/>
                </a:solidFill>
                <a:latin typeface="Aptos"/>
              </a:rPr>
              <a:t>Faculty Mentor</a:t>
            </a:r>
            <a:br/>
            <a:r>
              <a:rPr sz="1300" b="0">
                <a:solidFill>
                  <a:srgbClr val="65737D"/>
                </a:solidFill>
                <a:latin typeface="Aptos"/>
              </a:rPr>
              <a:t>Department / Institution</a:t>
            </a:r>
            <a:br/>
            <a:r>
              <a:rPr sz="1300" b="0">
                <a:solidFill>
                  <a:srgbClr val="65737D"/>
                </a:solidFill>
                <a:latin typeface="Aptos"/>
              </a:rPr>
              <a:t>[Add details here]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71780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957D"/>
                </a:solidFill>
                <a:latin typeface="Aptos"/>
              </a:rPr>
              <a:t>TEAM MEMBERS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1168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4957D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002536"/>
            <a:ext cx="5852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400" dirty="0"/>
              <a:t>VANDANA DURGA PRASANTH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54203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256946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4957D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532888"/>
            <a:ext cx="5852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400" dirty="0">
                <a:solidFill>
                  <a:srgbClr val="24303A"/>
                </a:solidFill>
                <a:latin typeface="Aptos"/>
              </a:rPr>
              <a:t>CHAITRA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07238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0016" y="3099816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4957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063240"/>
            <a:ext cx="5852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400" dirty="0">
                <a:solidFill>
                  <a:srgbClr val="24303A"/>
                </a:solidFill>
                <a:latin typeface="Aptos"/>
              </a:rPr>
              <a:t>RAHUL</a:t>
            </a:r>
            <a:r>
              <a:rPr lang="en-IN" sz="1200" dirty="0">
                <a:solidFill>
                  <a:srgbClr val="24303A"/>
                </a:solidFill>
                <a:latin typeface="Aptos"/>
              </a:rPr>
              <a:t> </a:t>
            </a:r>
            <a:r>
              <a:rPr lang="en-IN" sz="1400" dirty="0">
                <a:solidFill>
                  <a:srgbClr val="24303A"/>
                </a:solidFill>
                <a:latin typeface="Aptos"/>
              </a:rPr>
              <a:t>SWAIN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60273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0016" y="3630168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4957D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3593592"/>
            <a:ext cx="5852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400" dirty="0">
                <a:solidFill>
                  <a:srgbClr val="24303A"/>
                </a:solidFill>
                <a:latin typeface="Aptos"/>
              </a:rPr>
              <a:t>CHANDRA SEKHAR PADHY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4133087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0016" y="4160520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4957D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123944"/>
            <a:ext cx="5852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400" dirty="0">
                <a:solidFill>
                  <a:srgbClr val="24303A"/>
                </a:solidFill>
                <a:latin typeface="Aptos"/>
              </a:rPr>
              <a:t>SANTOSH KUMAR MAHARANA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466344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0016" y="4690872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4957D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4654296"/>
            <a:ext cx="5852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400" dirty="0">
                <a:solidFill>
                  <a:srgbClr val="24303A"/>
                </a:solidFill>
                <a:latin typeface="Aptos"/>
              </a:rPr>
              <a:t>MOHD ASIM KHAN</a:t>
            </a:r>
            <a:endParaRPr lang="en-I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What the project is designed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957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0876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2A"/>
                </a:solidFill>
                <a:latin typeface="Aptos"/>
              </a:rPr>
              <a:t>Detect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84248"/>
            <a:ext cx="39776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Explore patient-level patterns associated with Alzheimer’s 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32588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536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957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150876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2A"/>
                </a:solidFill>
                <a:latin typeface="Aptos"/>
              </a:rPr>
              <a:t>Identify informative 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1984248"/>
            <a:ext cx="39776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Assess cognitive, functional, symptom, lifestyle and medical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7472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685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957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65760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2A"/>
                </a:solidFill>
                <a:latin typeface="Aptos"/>
              </a:rPr>
              <a:t>Build classification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33087"/>
            <a:ext cx="39776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Compare supervised binary classification algorithms.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347472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3685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957D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65760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2A"/>
                </a:solidFill>
                <a:latin typeface="Aptos"/>
              </a:rPr>
              <a:t>Support data-driven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4133087"/>
            <a:ext cx="39776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Provide an interactive demonstration for risk-pattern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Dataset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Scope and structure of the patient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234440"/>
            <a:ext cx="54864" cy="987552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8074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2,149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0136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patient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3444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54864" cy="987552"/>
          </a:xfrm>
          <a:prstGeom prst="rect">
            <a:avLst/>
          </a:prstGeom>
          <a:solidFill>
            <a:srgbClr val="37AFBE"/>
          </a:solidFill>
          <a:ln>
            <a:solidFill>
              <a:srgbClr val="37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138074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80136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original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6752" y="123444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16752" y="1234440"/>
            <a:ext cx="54864" cy="987552"/>
          </a:xfrm>
          <a:prstGeom prst="rect">
            <a:avLst/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1344" y="138074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180136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predictive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95944" y="1234440"/>
            <a:ext cx="2834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95944" y="1234440"/>
            <a:ext cx="54864" cy="987552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0536" y="1380744"/>
            <a:ext cx="2560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1801368"/>
            <a:ext cx="2560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binary target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51460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76148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Variable 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46120"/>
            <a:ext cx="4572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Demographics: Age, Gender, Ethnicity, Education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Lifestyle: BMI, smoking, alcohol, activity, diet, sleep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Medical &amp; clinical: cardiovascular disease, diabetes, depression, BP, cholesterol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Cognitive / functional / symptoms: MMSE, FunctionalAssessment, ADL and symptom indicators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514600"/>
            <a:ext cx="528523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2761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Target variable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461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957D"/>
                </a:solidFill>
                <a:latin typeface="Aptos"/>
              </a:rPr>
              <a:t>Diagnosis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4048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B35"/>
                </a:solidFill>
                <a:latin typeface="Aptos"/>
              </a:rPr>
              <a:t>0 → No Alzheimer’s Disease</a:t>
            </a:r>
            <a:br/>
            <a:r>
              <a:rPr sz="1500" b="0">
                <a:solidFill>
                  <a:srgbClr val="1F2B35"/>
                </a:solidFill>
                <a:latin typeface="Aptos"/>
              </a:rPr>
              <a:t>1 → Alzheimer’s Disease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0060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PatientID and DoctorInCharge were excluded from predictive modelling.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Preparing a clean and leakage-controlled modelling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76479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No missing values</a:t>
            </a:r>
            <a:br/>
            <a:r>
              <a:rPr sz="1200" b="0">
                <a:solidFill>
                  <a:srgbClr val="65737D"/>
                </a:solidFill>
                <a:latin typeface="Aptos"/>
              </a:rPr>
              <a:t>No duplicate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6" y="2084831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50876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4176" y="176479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Feature cleanup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Remove PatientID</a:t>
            </a:r>
            <a:br/>
            <a:r>
              <a:rPr sz="1200" b="0">
                <a:solidFill>
                  <a:srgbClr val="65737D"/>
                </a:solidFill>
                <a:latin typeface="Aptos"/>
              </a:rPr>
              <a:t>Remove constant DoctorInCharge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2084831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50876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8816" y="176479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Target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Diagnosis as binary target</a:t>
            </a:r>
            <a:br/>
            <a:r>
              <a:rPr sz="1200" b="0">
                <a:solidFill>
                  <a:srgbClr val="65737D"/>
                </a:solidFill>
                <a:latin typeface="Aptos"/>
              </a:rPr>
              <a:t>0 / 1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2084831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50876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63456" y="176479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Model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331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32 predictive features</a:t>
            </a:r>
            <a:br/>
            <a:r>
              <a:rPr sz="1200" b="0">
                <a:solidFill>
                  <a:srgbClr val="65737D"/>
                </a:solidFill>
                <a:latin typeface="Aptos"/>
              </a:rPr>
              <a:t>2,149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10789920" cy="150876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957D"/>
                </a:solidFill>
                <a:latin typeface="Aptos"/>
              </a:rPr>
              <a:t>Preprocessing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B35"/>
                </a:solidFill>
                <a:latin typeface="Aptos"/>
              </a:rPr>
              <a:t>The dataset was already clean enough that no missing-value imputation or major IQR-based outlier treatment was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Target Variable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Diagnosis distribution in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29260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234440"/>
            <a:ext cx="54864" cy="987552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80744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1,389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01368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No Alzheimer’s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234440"/>
            <a:ext cx="29260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94760" y="1234440"/>
            <a:ext cx="54864" cy="987552"/>
          </a:xfrm>
          <a:prstGeom prst="rect">
            <a:avLst/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59352" y="1380744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760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1801368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Alzheimer’s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31152" y="1234440"/>
            <a:ext cx="29260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31152" y="1234440"/>
            <a:ext cx="54864" cy="987552"/>
          </a:xfrm>
          <a:prstGeom prst="rect">
            <a:avLst/>
          </a:prstGeom>
          <a:solidFill>
            <a:srgbClr val="37AFBE"/>
          </a:solidFill>
          <a:ln>
            <a:solidFill>
              <a:srgbClr val="37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95744" y="1380744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64.63%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1801368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non-Alzheimer share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514600"/>
            <a:ext cx="65836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ell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27" y="2724912"/>
            <a:ext cx="3851705" cy="27432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452360" y="2514600"/>
            <a:ext cx="40690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79" y="27889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33756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The target is moderately imbalanced.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Non-Alzheimer cases are more frequent.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Stratified splitting helps preserve the class proportion during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Continuous Variable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Distribution and spread of numerical patient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315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598" y="1417320"/>
            <a:ext cx="5717883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18872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1168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Numerical variables cover demographic, lifestyle, clinical and cognitive measurements.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The feature scales differ substantially, supporting scaling for distance- and coefficient-based models.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No major distributional issue was identified that required removal of a continuous feature.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Outlier &amp; Boxplot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Checking whether extreme values could distort the modelling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315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65" y="1417320"/>
            <a:ext cx="6881149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18872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1168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The key cognitive and functional variables show clear separation between diagnosis groups.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IQR checks found no significant outlier counts across the continuous variables.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Therefore, no outlier treatment was required before modelling.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Identifying variables most associated with the diagnosis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315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864" y="1417320"/>
            <a:ext cx="5103351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18872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Top associations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116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FunctionalAssessment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201168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957D"/>
                </a:solidFill>
                <a:latin typeface="Aptos"/>
              </a:rPr>
              <a:t>−0.365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5877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ADL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58775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957D"/>
                </a:solidFill>
                <a:latin typeface="Aptos"/>
              </a:rPr>
              <a:t>−0.332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16382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MemoryComplaints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316382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957D"/>
                </a:solidFill>
                <a:latin typeface="Aptos"/>
              </a:rPr>
              <a:t>+0.307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73989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MMSE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3739896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957D"/>
                </a:solidFill>
                <a:latin typeface="Aptos"/>
              </a:rPr>
              <a:t>−0.237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431596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BehavioralProblems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4315968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4957D"/>
                </a:solidFill>
                <a:latin typeface="Aptos"/>
              </a:rPr>
              <a:t>+0.224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Cognitive &amp; Functional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The strongest group-level differences in the 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0408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51" y="1417320"/>
            <a:ext cx="6114857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18872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813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Observed differences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MMSE is lower on average for the Alzheimer’s group.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FunctionalAssessment shows a substantial group difference.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ADL also differs strongly between the two diagnosis groups.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These variables became important candidates for model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Symptom &amp; Behavioral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Diagnosis rate patterns for binary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315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404" y="1417320"/>
            <a:ext cx="4284271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18872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1168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Memory complaints show a notably higher diagnosis rate when present.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Behavioral problems also show a meaningful difference.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Other binary medical indicators have weaker individual separation.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Combined effects can still be captured by ensemble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Diagnosis vs Important Categorical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Comparing binary patient indicators across diagnosis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315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404" y="1417320"/>
            <a:ext cx="4284271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18872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Key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1168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MemoryComplaints: diagnosis rate rises from 27.8% to 64.0%.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BehavioralProblems: diagnosis rate rises from 30.7% to 60.2%.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Family history and several chronic conditions show smaller differences in this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Numerical Features vs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Mean comparison between the two diagnosis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2237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MMSE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2763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162763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199339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71800" y="1993392"/>
            <a:ext cx="2560657" cy="256032"/>
          </a:xfrm>
          <a:prstGeom prst="roundRect">
            <a:avLst>
              <a:gd name="adj" fmla="val 8000"/>
            </a:avLst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0934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4957D"/>
                </a:solidFill>
                <a:latin typeface="Aptos"/>
              </a:rPr>
              <a:t>16.27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7510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C843E"/>
                </a:solidFill>
                <a:latin typeface="Aptos"/>
              </a:rPr>
              <a:t>11.99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FunctionalAssessment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63347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71800" y="263347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71800" y="299923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71800" y="2999232"/>
            <a:ext cx="2164288" cy="256032"/>
          </a:xfrm>
          <a:prstGeom prst="roundRect">
            <a:avLst>
              <a:gd name="adj" fmla="val 8000"/>
            </a:avLst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61518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4957D"/>
                </a:solidFill>
                <a:latin typeface="Aptos"/>
              </a:rPr>
              <a:t>5.86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8094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C843E"/>
                </a:solidFill>
                <a:latin typeface="Aptos"/>
              </a:rPr>
              <a:t>3.65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393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ADL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363931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71800" y="363931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71800" y="400507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71800" y="4005072"/>
            <a:ext cx="2227228" cy="256032"/>
          </a:xfrm>
          <a:prstGeom prst="roundRect">
            <a:avLst>
              <a:gd name="adj" fmla="val 8000"/>
            </a:avLst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62102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4957D"/>
                </a:solidFill>
                <a:latin typeface="Aptos"/>
              </a:rPr>
              <a:t>5.71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8678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C843E"/>
                </a:solidFill>
                <a:latin typeface="Aptos"/>
              </a:rPr>
              <a:t>3.66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451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B35"/>
                </a:solidFill>
                <a:latin typeface="Aptos"/>
              </a:rPr>
              <a:t>SleepQuality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64515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971800" y="464515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971800" y="5010912"/>
            <a:ext cx="3474720" cy="256032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971800" y="5010912"/>
            <a:ext cx="3377115" cy="256032"/>
          </a:xfrm>
          <a:prstGeom prst="roundRect">
            <a:avLst>
              <a:gd name="adj" fmla="val 8000"/>
            </a:avLst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62686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4957D"/>
                </a:solidFill>
                <a:latin typeface="Aptos"/>
              </a:rPr>
              <a:t>7.12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9262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C843E"/>
                </a:solidFill>
                <a:latin typeface="Aptos"/>
              </a:rPr>
              <a:t>6.92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56509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Diagnosis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6509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C843E"/>
                </a:solidFill>
                <a:latin typeface="Aptos"/>
              </a:rPr>
              <a:t>Diagnosis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1188720"/>
            <a:ext cx="3337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8200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Inference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2011680"/>
            <a:ext cx="2697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MMSE, FunctionalAssessment and ADL show the clearest mean differences.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Age, BMI and most cardiovascular measures have much smaller mean differences.</a:t>
            </a:r>
          </a:p>
          <a:p>
            <a:pPr>
              <a:spcAft>
                <a:spcPts val="800"/>
              </a:spcAft>
              <a:defRPr sz="1200">
                <a:solidFill>
                  <a:srgbClr val="1F2B35"/>
                </a:solidFill>
                <a:latin typeface="Aptos"/>
              </a:defRPr>
            </a:pPr>
            <a:r>
              <a:t>•  The strongest signals are concentrated in cognitive and functional variables.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Age &amp; Gender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Assessing whether simple demographic variables separate the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52120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41282"/>
            <a:ext cx="4800600" cy="32326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5623560"/>
            <a:ext cx="4663440" cy="566928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5733288"/>
            <a:ext cx="44074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B35"/>
                </a:solidFill>
                <a:latin typeface="Aptos"/>
              </a:rPr>
              <a:t>Age distributions overlap considerably across the two diagnosis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188720"/>
            <a:ext cx="5376672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ell_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69948"/>
            <a:ext cx="4937760" cy="35753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0" y="5623560"/>
            <a:ext cx="4846320" cy="566928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5733288"/>
            <a:ext cx="45902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B35"/>
                </a:solidFill>
                <a:latin typeface="Aptos"/>
              </a:rPr>
              <a:t>Gender shows substantial overlap rather than strong individual separation.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EDA Summary &amp; Inferences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What the exploratory analysis tells us before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10789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25880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B35"/>
                </a:solidFill>
                <a:latin typeface="Aptos"/>
              </a:rPr>
              <a:t>Dataset is clean: no missing values, duplicates or significant IQR-based outliers.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84248"/>
            <a:ext cx="10789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12264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75688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B35"/>
                </a:solidFill>
                <a:latin typeface="Aptos"/>
              </a:rPr>
              <a:t>Diagnosis is moderately imbalanced, with more non-Alzheimer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34056"/>
            <a:ext cx="10789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620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25496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B35"/>
                </a:solidFill>
                <a:latin typeface="Aptos"/>
              </a:rPr>
              <a:t>FunctionalAssessment, ADL and MMSE show the clearest numerical differences.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4"/>
            <a:ext cx="10789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75304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B35"/>
                </a:solidFill>
                <a:latin typeface="Aptos"/>
              </a:rPr>
              <a:t>MemoryComplaints and BehavioralProblems have strong binary associations with diagnosis.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33672"/>
            <a:ext cx="10789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6168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25112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B35"/>
                </a:solidFill>
                <a:latin typeface="Aptos"/>
              </a:rPr>
              <a:t>Age and gender overlap substantially across the two groups.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83479"/>
            <a:ext cx="10789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111495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74919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B35"/>
                </a:solidFill>
                <a:latin typeface="Aptos"/>
              </a:rPr>
              <a:t>Associations are statistical patterns in this dataset and should not be interpreted as causal relationships.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Model Building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From prepared patient data to evaluated classifiers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184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202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4173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16184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19842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Feature / Target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19202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4173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799" y="16184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19842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Train-Test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19202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14173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19" y="16184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9842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Scaling where required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747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675887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0416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Model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977639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7" y="34747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79" y="3675887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40416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3977639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7" y="34747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799" y="3675887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799" y="40416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Hyperparameter 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977639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957D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347472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9719" y="3675887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57D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404164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Final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23560"/>
            <a:ext cx="10789920" cy="50292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" y="5751576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2B35"/>
                </a:solidFill>
                <a:latin typeface="Aptos"/>
              </a:rPr>
              <a:t>The final objective is to select the model with the strongest and most balanced classification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Train-Test Split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Evaluation design used to reduce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27432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234440"/>
            <a:ext cx="54864" cy="987552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80744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1,719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01368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training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234440"/>
            <a:ext cx="27432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234440"/>
            <a:ext cx="54864" cy="987552"/>
          </a:xfrm>
          <a:prstGeom prst="rect">
            <a:avLst/>
          </a:prstGeom>
          <a:solidFill>
            <a:srgbClr val="37AFBE"/>
          </a:solidFill>
          <a:ln>
            <a:solidFill>
              <a:srgbClr val="37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380744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430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801368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testing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1234440"/>
            <a:ext cx="21945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65392" y="1234440"/>
            <a:ext cx="54864" cy="987552"/>
          </a:xfrm>
          <a:prstGeom prst="rect">
            <a:avLst/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9983" y="1380744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80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3" y="1801368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split ratio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23444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0264" y="1234440"/>
            <a:ext cx="54864" cy="987552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34856" y="138074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180136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random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60604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8803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Class distribution preserved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290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B35"/>
                </a:solidFill>
                <a:latin typeface="Aptos"/>
              </a:rPr>
              <a:t>Training: 1,111 class 0 + 608 class 1</a:t>
            </a:r>
            <a:br/>
            <a:r>
              <a:rPr sz="1400" b="0">
                <a:solidFill>
                  <a:srgbClr val="1F2B35"/>
                </a:solidFill>
                <a:latin typeface="Aptos"/>
              </a:rPr>
              <a:t>Testing: 278 class 0 + 152 class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606040"/>
            <a:ext cx="537667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8803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Scaling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29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StandardScaler was used for Logistic Regression and KNN.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Scaler was fitted only on training data, then applied to the test set.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Tree-based models were trained without scaling.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Models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Four baseline classifiers were 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3560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2A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Linear decision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860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957D"/>
                </a:solidFill>
                <a:latin typeface="Aptos"/>
              </a:rPr>
              <a:t>81.63%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7" y="2258568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B35"/>
                </a:solidFill>
                <a:latin typeface="Aptos"/>
              </a:rPr>
              <a:t>Baseline probabilistic classifier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368" y="123444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43560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2A"/>
                </a:solidFill>
                <a:latin typeface="Aptos"/>
              </a:rPr>
              <a:t>Decision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8928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Rule-based splits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2860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957D"/>
                </a:solidFill>
                <a:latin typeface="Aptos"/>
              </a:rPr>
              <a:t>90.00%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258568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B35"/>
                </a:solidFill>
                <a:latin typeface="Aptos"/>
              </a:rPr>
              <a:t>Captures non-linear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6732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2A"/>
                </a:solidFill>
                <a:latin typeface="Aptos"/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Ensemble of trees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61772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957D"/>
                </a:solidFill>
                <a:latin typeface="Aptos"/>
              </a:rPr>
              <a:t>93.72%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7" y="4590288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B35"/>
                </a:solidFill>
                <a:latin typeface="Aptos"/>
              </a:rPr>
              <a:t>Strong baseline performance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356616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76732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2A"/>
                </a:solidFill>
                <a:latin typeface="Aptos"/>
              </a:rPr>
              <a:t>K-Nearest Neighbors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Distance-based 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61772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957D"/>
                </a:solidFill>
                <a:latin typeface="Aptos"/>
              </a:rPr>
              <a:t>70.70%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4590288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B35"/>
                </a:solidFill>
                <a:latin typeface="Aptos"/>
              </a:rPr>
              <a:t>Weakest overall baseline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Initial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Performance before Random Forest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141F2A"/>
          </a:solidFill>
          <a:ln>
            <a:solidFill>
              <a:srgbClr val="14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444752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25880"/>
            <a:ext cx="1508760" cy="502920"/>
          </a:xfrm>
          <a:prstGeom prst="roundRect">
            <a:avLst>
              <a:gd name="adj" fmla="val 8000"/>
            </a:avLst>
          </a:prstGeom>
          <a:solidFill>
            <a:srgbClr val="141F2A"/>
          </a:solidFill>
          <a:ln>
            <a:solidFill>
              <a:srgbClr val="14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44752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2471" y="1325880"/>
            <a:ext cx="1508760" cy="502920"/>
          </a:xfrm>
          <a:prstGeom prst="roundRect">
            <a:avLst>
              <a:gd name="adj" fmla="val 8000"/>
            </a:avLst>
          </a:prstGeom>
          <a:solidFill>
            <a:srgbClr val="141F2A"/>
          </a:solidFill>
          <a:ln>
            <a:solidFill>
              <a:srgbClr val="14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35623" y="1444752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4383" y="1325880"/>
            <a:ext cx="1508760" cy="502920"/>
          </a:xfrm>
          <a:prstGeom prst="roundRect">
            <a:avLst>
              <a:gd name="adj" fmla="val 8000"/>
            </a:avLst>
          </a:prstGeom>
          <a:solidFill>
            <a:srgbClr val="141F2A"/>
          </a:solidFill>
          <a:ln>
            <a:solidFill>
              <a:srgbClr val="14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17536" y="1444752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1325880"/>
            <a:ext cx="1508760" cy="502920"/>
          </a:xfrm>
          <a:prstGeom prst="roundRect">
            <a:avLst>
              <a:gd name="adj" fmla="val 8000"/>
            </a:avLst>
          </a:prstGeom>
          <a:solidFill>
            <a:srgbClr val="141F2A"/>
          </a:solidFill>
          <a:ln>
            <a:solidFill>
              <a:srgbClr val="14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9448" y="1444752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947672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19" y="2112264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957D"/>
                </a:solidFill>
                <a:latin typeface="Aptos"/>
              </a:rPr>
              <a:t>Random Forest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1947672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2112264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93.72%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2471" y="1947672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35623" y="2112264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93.71%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44383" y="1947672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17536" y="2112264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88.16%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1947672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99448" y="2112264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90.85%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752344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19" y="2916936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957D"/>
                </a:solidFill>
                <a:latin typeface="Aptos"/>
              </a:rPr>
              <a:t>Decision Tree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2752344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2916936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90.00%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62471" y="2752344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35623" y="2916936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84.71%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44383" y="2752344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17536" y="2916936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87.50%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26296" y="2752344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99448" y="2916936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86.08%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557015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" y="3721607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957D"/>
                </a:solidFill>
                <a:latin typeface="Aptos"/>
              </a:rPr>
              <a:t>Logistic Regression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59" y="3557015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53712" y="3721607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81.63%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62471" y="3557015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35623" y="3721607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74.17%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44383" y="3557015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17536" y="3721607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73.68%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26296" y="3557015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99448" y="3721607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73.93%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4361688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19" y="4526279"/>
            <a:ext cx="360273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957D"/>
                </a:solidFill>
                <a:latin typeface="Aptos"/>
              </a:rPr>
              <a:t>KNN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59" y="4361688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53712" y="4526279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70.70%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62471" y="4361688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35623" y="4526279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63.27%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44383" y="4361688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17536" y="4526279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40.79%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26296" y="4361688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99448" y="4526279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5"/>
                </a:solidFill>
                <a:latin typeface="Aptos"/>
              </a:rPr>
              <a:t>49.60%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489204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" y="5120640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F2A"/>
                </a:solidFill>
                <a:latin typeface="Aptos"/>
              </a:rPr>
              <a:t>Inference: Random Forest was the strongest baseline and provided the best starting point for hyperparameter tuning.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Random Forest Hyperparameter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GridSearchCV was used to improve the strongest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52120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Search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n_estimators: 100, 200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max_depth: None, 10, 20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min_samples_split: 2, 5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5-fold cross-validation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Scoring objective: F1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34440"/>
            <a:ext cx="537667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Best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957D"/>
                </a:solidFill>
                <a:latin typeface="Aptos"/>
              </a:rPr>
              <a:t>200 trees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42032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AFBE"/>
                </a:solidFill>
                <a:latin typeface="Aptos"/>
              </a:rPr>
              <a:t>max_depth =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26664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C843E"/>
                </a:solidFill>
                <a:latin typeface="Aptos"/>
              </a:rPr>
              <a:t>min_samples_split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2A"/>
                </a:solidFill>
                <a:latin typeface="Aptos"/>
              </a:rPr>
              <a:t>Best cross-validation F1: 0.9074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7D"/>
                </a:solidFill>
                <a:latin typeface="Aptos"/>
              </a:rPr>
              <a:t>Inference: tuning produced a measurable improvement over the original Random Forest.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Final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Tuned Random Forest performance on the held-out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188720"/>
            <a:ext cx="54864" cy="987552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3502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94.42%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5564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18872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1568" y="1188720"/>
            <a:ext cx="54864" cy="987552"/>
          </a:xfrm>
          <a:prstGeom prst="rect">
            <a:avLst/>
          </a:prstGeom>
          <a:solidFill>
            <a:srgbClr val="37AFBE"/>
          </a:solidFill>
          <a:ln>
            <a:solidFill>
              <a:srgbClr val="37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33502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94.44%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5564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18872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188720"/>
            <a:ext cx="54864" cy="987552"/>
          </a:xfrm>
          <a:prstGeom prst="rect">
            <a:avLst/>
          </a:prstGeom>
          <a:solidFill>
            <a:srgbClr val="EC843E"/>
          </a:solidFill>
          <a:ln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133502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89.47%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75564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18872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87968" y="1188720"/>
            <a:ext cx="54864" cy="987552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335024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1F2A"/>
                </a:solidFill>
                <a:latin typeface="Aptos"/>
              </a:rPr>
              <a:t>91.89%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75564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7D"/>
                </a:solidFill>
                <a:latin typeface="Aptos"/>
              </a:rPr>
              <a:t>F1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560320"/>
            <a:ext cx="5029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ell_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36" y="2743200"/>
            <a:ext cx="3578086" cy="27432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96112" y="5440680"/>
            <a:ext cx="4526280" cy="566928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5550408"/>
            <a:ext cx="4270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B35"/>
                </a:solidFill>
                <a:latin typeface="Aptos"/>
              </a:rPr>
              <a:t>Confusion matrix of the tuned Random Forest on the test set.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8" y="2560320"/>
            <a:ext cx="5559552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36208" y="28346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Evaluation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383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The tuned model achieved the highest F1 score among all tested models.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Recall of 89.47% indicates strong identification of Alzheimer’s cases, while maintaining high precision.</a:t>
            </a:r>
          </a:p>
          <a:p>
            <a:pPr>
              <a:spcAft>
                <a:spcPts val="800"/>
              </a:spcAft>
              <a:defRPr sz="1300">
                <a:solidFill>
                  <a:srgbClr val="1F2B35"/>
                </a:solidFill>
                <a:latin typeface="Aptos"/>
              </a:defRPr>
            </a:pPr>
            <a:r>
              <a:t>•  The tuned model was therefore selected as the final deployment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What the final Random Forest relies on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7315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68624"/>
            <a:ext cx="6903720" cy="38693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18872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Top 5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1168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B35"/>
                </a:solidFill>
                <a:latin typeface="Aptos"/>
              </a:rPr>
              <a:t>FunctionalAssessment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2011680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14957D"/>
                </a:solidFill>
                <a:latin typeface="Aptos"/>
              </a:rPr>
              <a:t>0.1775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5877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B35"/>
                </a:solidFill>
                <a:latin typeface="Aptos"/>
              </a:rPr>
              <a:t>ADL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587752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14957D"/>
                </a:solidFill>
                <a:latin typeface="Aptos"/>
              </a:rPr>
              <a:t>0.1655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163824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B35"/>
                </a:solidFill>
                <a:latin typeface="Aptos"/>
              </a:rPr>
              <a:t>MMSE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3163824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14957D"/>
                </a:solidFill>
                <a:latin typeface="Aptos"/>
              </a:rPr>
              <a:t>0.1186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739896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B35"/>
                </a:solidFill>
                <a:latin typeface="Aptos"/>
              </a:rPr>
              <a:t>MemoryComplaints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3739896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14957D"/>
                </a:solidFill>
                <a:latin typeface="Aptos"/>
              </a:rPr>
              <a:t>0.0868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4315968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B35"/>
                </a:solidFill>
                <a:latin typeface="Aptos"/>
              </a:rPr>
              <a:t>BehavioralProblems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431596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14957D"/>
                </a:solidFill>
                <a:latin typeface="Aptos"/>
              </a:rPr>
              <a:t>0.0456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5074920"/>
            <a:ext cx="2697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Inference: cognitive, functional and symptom variables dominate the model’s global feature importance.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Streamlit App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Interactive interface for entering patient information and generating a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43000"/>
            <a:ext cx="7498079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lzheimers_streamlit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08" y="1353312"/>
            <a:ext cx="6683542" cy="4617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143000"/>
            <a:ext cx="31089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68512" y="1444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2A"/>
                </a:solidFill>
                <a:latin typeface="Aptos"/>
              </a:rPr>
              <a:t>App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Patient demographic inputs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Lifestyle and medical history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Blood pressure &amp; cholesterol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Cognitive and functional scores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Symptoms and behavioral indicators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Prediction: lower / higher likelihood</a:t>
            </a:r>
          </a:p>
          <a:p>
            <a:pPr>
              <a:spcAft>
                <a:spcPts val="800"/>
              </a:spcAft>
              <a:defRPr sz="1150">
                <a:solidFill>
                  <a:srgbClr val="1F2B35"/>
                </a:solidFill>
                <a:latin typeface="Aptos"/>
              </a:defRPr>
            </a:pPr>
            <a:r>
              <a:t>•  Prediction probabilities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2514" y="5266452"/>
            <a:ext cx="2514600" cy="566928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solidFill>
              <a:srgbClr val="EE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50808" y="5322005"/>
            <a:ext cx="22585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1F2B35"/>
                </a:solidFill>
                <a:latin typeface="Aptos"/>
              </a:rPr>
              <a:t>UI shown as an editable presentation mock-up of the deployed </a:t>
            </a:r>
            <a:r>
              <a:rPr sz="1000" b="0" dirty="0" err="1">
                <a:solidFill>
                  <a:srgbClr val="1F2B35"/>
                </a:solidFill>
                <a:latin typeface="Aptos"/>
              </a:rPr>
              <a:t>Streamlit</a:t>
            </a:r>
            <a:r>
              <a:rPr sz="1000" b="0" dirty="0">
                <a:solidFill>
                  <a:srgbClr val="1F2B35"/>
                </a:solidFill>
                <a:latin typeface="Aptos"/>
              </a:rPr>
              <a:t> workflow.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957D"/>
                </a:solidFill>
                <a:latin typeface="Apto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8346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41F2A"/>
                </a:solidFill>
                <a:latin typeface="Aptos"/>
              </a:rPr>
              <a:t>Challenges Faced During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749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7D"/>
                </a:solidFill>
                <a:latin typeface="Aptos"/>
              </a:rPr>
              <a:t>Practical challenges and how they were addressed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28816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5737D"/>
                </a:solidFill>
                <a:latin typeface="Aptos"/>
              </a:rPr>
              <a:t>Alzheimer’s Disease Classification  •  Machine Learning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43000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28930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F2A"/>
                </a:solidFill>
                <a:latin typeface="Aptos"/>
              </a:rPr>
              <a:t>Data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26187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737D"/>
                </a:solidFill>
                <a:latin typeface="Aptos"/>
              </a:rPr>
              <a:t>Many variables span demographics, clinical measurements, symptoms and assessments.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26187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957D"/>
                </a:solidFill>
                <a:latin typeface="Aptos"/>
              </a:rPr>
              <a:t>Grouped features and used target-focused EDA.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27685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F2A"/>
                </a:solidFill>
                <a:latin typeface="Aptos"/>
              </a:rPr>
              <a:t>Class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494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737D"/>
                </a:solidFill>
                <a:latin typeface="Aptos"/>
              </a:rPr>
              <a:t>Diagnosis 0 has more observations than Diagnosis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24942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957D"/>
                </a:solidFill>
                <a:latin typeface="Aptos"/>
              </a:rPr>
              <a:t>Used stratified train-test splitting and F1-focused tuning.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118104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26440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F2A"/>
                </a:solidFill>
                <a:latin typeface="Aptos"/>
              </a:rPr>
              <a:t>Model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236976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737D"/>
                </a:solidFill>
                <a:latin typeface="Aptos"/>
              </a:rPr>
              <a:t>Different algorithms require different assumptions and preprocessing.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36976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957D"/>
                </a:solidFill>
                <a:latin typeface="Aptos"/>
              </a:rPr>
              <a:t>Scaled inputs for Logistic Regression/KNN; tree models used raw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05656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2519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F2A"/>
                </a:solidFill>
                <a:latin typeface="Aptos"/>
              </a:rPr>
              <a:t>Model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22452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737D"/>
                </a:solidFill>
                <a:latin typeface="Aptos"/>
              </a:rPr>
              <a:t>Strong baseline performance still needed validation after tuning.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224528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957D"/>
                </a:solidFill>
                <a:latin typeface="Aptos"/>
              </a:rPr>
              <a:t>Used GridSearchCV and selected the tuned Random Forest.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93208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23951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F2A"/>
                </a:solidFill>
                <a:latin typeface="Aptos"/>
              </a:rPr>
              <a:t>Deployment 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21208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737D"/>
                </a:solidFill>
                <a:latin typeface="Aptos"/>
              </a:rPr>
              <a:t>The app must supply features in the exact trained order.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21208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957D"/>
                </a:solidFill>
                <a:latin typeface="Aptos"/>
              </a:rPr>
              <a:t>Saved feature_names.pkl alongside the trained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solidFill>
              <a:srgbClr val="F7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957D"/>
          </a:solidFill>
          <a:ln>
            <a:solidFill>
              <a:srgbClr val="149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141F2A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957D"/>
                </a:solidFill>
                <a:latin typeface="Aptos"/>
              </a:rPr>
              <a:t>Alzheimer’s Disease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743200"/>
            <a:ext cx="818387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23160" y="3063240"/>
            <a:ext cx="7360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1F2A"/>
                </a:solidFill>
                <a:latin typeface="Aptos"/>
              </a:rPr>
              <a:t>Final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3566160"/>
            <a:ext cx="7360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B35"/>
                </a:solidFill>
                <a:latin typeface="Aptos"/>
              </a:rPr>
              <a:t>The tuned Random Forest provided the strongest overall classification performance and was integrated into an interactive Streamlit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5737D"/>
                </a:solidFill>
                <a:latin typeface="Aptos"/>
              </a:rPr>
              <a:t>Thank you for your time and consideration.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1706</Words>
  <Application>Microsoft Office PowerPoint</Application>
  <PresentationFormat>Widescreen</PresentationFormat>
  <Paragraphs>379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VANDANA PRASANTH</dc:creator>
  <cp:keywords/>
  <dc:description>generated using python-pptx</dc:description>
  <cp:lastModifiedBy>VANDANA DURGA PRASANTH</cp:lastModifiedBy>
  <cp:revision>4</cp:revision>
  <dcterms:created xsi:type="dcterms:W3CDTF">2013-01-27T09:14:16Z</dcterms:created>
  <dcterms:modified xsi:type="dcterms:W3CDTF">2026-09-15T16:26:11Z</dcterms:modified>
  <cp:category/>
</cp:coreProperties>
</file>